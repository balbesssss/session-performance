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7" r:id="rId2"/>
    <p:sldId id="265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6" r:id="rId12"/>
    <p:sldId id="273" r:id="rId13"/>
    <p:sldId id="267" r:id="rId14"/>
    <p:sldId id="304" r:id="rId15"/>
    <p:sldId id="275" r:id="rId16"/>
    <p:sldId id="276" r:id="rId17"/>
    <p:sldId id="277" r:id="rId18"/>
    <p:sldId id="278" r:id="rId19"/>
    <p:sldId id="279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90" r:id="rId29"/>
    <p:sldId id="289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5" r:id="rId44"/>
    <p:sldId id="306" r:id="rId45"/>
    <p:sldId id="280" r:id="rId46"/>
    <p:sldId id="274" r:id="rId47"/>
    <p:sldId id="272" r:id="rId48"/>
    <p:sldId id="271" r:id="rId4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F3E660F8-5ACB-4748-998A-6FF981399AA2}">
          <p14:sldIdLst>
            <p14:sldId id="257"/>
            <p14:sldId id="265"/>
            <p14:sldId id="258"/>
            <p14:sldId id="259"/>
            <p14:sldId id="260"/>
            <p14:sldId id="261"/>
            <p14:sldId id="268"/>
            <p14:sldId id="262"/>
            <p14:sldId id="263"/>
            <p14:sldId id="264"/>
            <p14:sldId id="266"/>
            <p14:sldId id="273"/>
            <p14:sldId id="267"/>
            <p14:sldId id="304"/>
            <p14:sldId id="275"/>
            <p14:sldId id="276"/>
            <p14:sldId id="277"/>
            <p14:sldId id="278"/>
            <p14:sldId id="279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90"/>
            <p14:sldId id="289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5"/>
            <p14:sldId id="306"/>
            <p14:sldId id="280"/>
            <p14:sldId id="274"/>
            <p14:sldId id="272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36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5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177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altLang="zh-CN" smtClean="0"/>
              <a:t>Образец заголовка</a:t>
            </a:r>
            <a:endParaRPr lang="en-US" dirty="0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altLang="zh-CN" smtClean="0"/>
              <a:t>Образец подзаголовка</a:t>
            </a:r>
            <a:endParaRPr lang="en-US" dirty="0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9C8F3-725A-4F9A-A507-94E9D5D4F6DB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40409-DAE8-4674-9087-DC3CFB3688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smtClean="0"/>
              <a:t>Образец заголовка</a:t>
            </a:r>
            <a:endParaRPr lang="en-US" dirty="0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altLang="zh-CN" smtClean="0"/>
              <a:t>Образец текста</a:t>
            </a:r>
          </a:p>
          <a:p>
            <a:pPr lvl="1"/>
            <a:r>
              <a:rPr lang="ru-RU" altLang="zh-CN" smtClean="0"/>
              <a:t>Второй уровень</a:t>
            </a:r>
          </a:p>
          <a:p>
            <a:pPr lvl="2"/>
            <a:r>
              <a:rPr lang="ru-RU" altLang="zh-CN" smtClean="0"/>
              <a:t>Третий уровень</a:t>
            </a:r>
          </a:p>
          <a:p>
            <a:pPr lvl="3"/>
            <a:r>
              <a:rPr lang="ru-RU" altLang="zh-CN" smtClean="0"/>
              <a:t>Четвертый уровень</a:t>
            </a:r>
          </a:p>
          <a:p>
            <a:pPr lvl="4"/>
            <a:r>
              <a:rPr lang="ru-RU" altLang="zh-CN" smtClean="0"/>
              <a:t>Пятый уровень</a:t>
            </a:r>
            <a:endParaRPr lang="en-US" dirty="0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9C8F3-725A-4F9A-A507-94E9D5D4F6DB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40409-DAE8-4674-9087-DC3CFB3688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altLang="zh-CN" smtClean="0"/>
              <a:t>Образец заголовка</a:t>
            </a:r>
            <a:endParaRPr lang="en-US" dirty="0"/>
          </a:p>
        </p:txBody>
      </p:sp>
      <p:sp>
        <p:nvSpPr>
          <p:cNvPr id="1048616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altLang="zh-CN" smtClean="0"/>
              <a:t>Образец текста</a:t>
            </a:r>
          </a:p>
        </p:txBody>
      </p:sp>
      <p:sp>
        <p:nvSpPr>
          <p:cNvPr id="10486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9C8F3-725A-4F9A-A507-94E9D5D4F6DB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10486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40409-DAE8-4674-9087-DC3CFB3688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smtClean="0"/>
              <a:t>Образец заголовка</a:t>
            </a:r>
            <a:endParaRPr lang="en-US" dirty="0"/>
          </a:p>
        </p:txBody>
      </p:sp>
      <p:sp>
        <p:nvSpPr>
          <p:cNvPr id="1048621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altLang="zh-CN" smtClean="0"/>
              <a:t>Образец текста</a:t>
            </a:r>
          </a:p>
          <a:p>
            <a:pPr lvl="1"/>
            <a:r>
              <a:rPr lang="ru-RU" altLang="zh-CN" smtClean="0"/>
              <a:t>Второй уровень</a:t>
            </a:r>
          </a:p>
          <a:p>
            <a:pPr lvl="2"/>
            <a:r>
              <a:rPr lang="ru-RU" altLang="zh-CN" smtClean="0"/>
              <a:t>Третий уровень</a:t>
            </a:r>
          </a:p>
          <a:p>
            <a:pPr lvl="3"/>
            <a:r>
              <a:rPr lang="ru-RU" altLang="zh-CN" smtClean="0"/>
              <a:t>Четвертый уровень</a:t>
            </a:r>
          </a:p>
          <a:p>
            <a:pPr lvl="4"/>
            <a:r>
              <a:rPr lang="ru-RU" altLang="zh-CN" smtClean="0"/>
              <a:t>Пятый уровень</a:t>
            </a:r>
            <a:endParaRPr lang="en-US" dirty="0"/>
          </a:p>
        </p:txBody>
      </p:sp>
      <p:sp>
        <p:nvSpPr>
          <p:cNvPr id="1048622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altLang="zh-CN" smtClean="0"/>
              <a:t>Образец текста</a:t>
            </a:r>
          </a:p>
          <a:p>
            <a:pPr lvl="1"/>
            <a:r>
              <a:rPr lang="ru-RU" altLang="zh-CN" smtClean="0"/>
              <a:t>Второй уровень</a:t>
            </a:r>
          </a:p>
          <a:p>
            <a:pPr lvl="2"/>
            <a:r>
              <a:rPr lang="ru-RU" altLang="zh-CN" smtClean="0"/>
              <a:t>Третий уровень</a:t>
            </a:r>
          </a:p>
          <a:p>
            <a:pPr lvl="3"/>
            <a:r>
              <a:rPr lang="ru-RU" altLang="zh-CN" smtClean="0"/>
              <a:t>Четвертый уровень</a:t>
            </a:r>
          </a:p>
          <a:p>
            <a:pPr lvl="4"/>
            <a:r>
              <a:rPr lang="ru-RU" altLang="zh-CN" smtClean="0"/>
              <a:t>Пятый уровень</a:t>
            </a:r>
            <a:endParaRPr lang="en-US" dirty="0"/>
          </a:p>
        </p:txBody>
      </p:sp>
      <p:sp>
        <p:nvSpPr>
          <p:cNvPr id="10486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9C8F3-725A-4F9A-A507-94E9D5D4F6DB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10486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40409-DAE8-4674-9087-DC3CFB3688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altLang="zh-CN" smtClean="0"/>
              <a:t>Образец заголовка</a:t>
            </a:r>
            <a:endParaRPr lang="en-US" dirty="0"/>
          </a:p>
        </p:txBody>
      </p:sp>
      <p:sp>
        <p:nvSpPr>
          <p:cNvPr id="1048627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zh-CN" smtClean="0"/>
              <a:t>Образец текста</a:t>
            </a:r>
          </a:p>
        </p:txBody>
      </p:sp>
      <p:sp>
        <p:nvSpPr>
          <p:cNvPr id="1048628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altLang="zh-CN" smtClean="0"/>
              <a:t>Образец текста</a:t>
            </a:r>
          </a:p>
          <a:p>
            <a:pPr lvl="1"/>
            <a:r>
              <a:rPr lang="ru-RU" altLang="zh-CN" smtClean="0"/>
              <a:t>Второй уровень</a:t>
            </a:r>
          </a:p>
          <a:p>
            <a:pPr lvl="2"/>
            <a:r>
              <a:rPr lang="ru-RU" altLang="zh-CN" smtClean="0"/>
              <a:t>Третий уровень</a:t>
            </a:r>
          </a:p>
          <a:p>
            <a:pPr lvl="3"/>
            <a:r>
              <a:rPr lang="ru-RU" altLang="zh-CN" smtClean="0"/>
              <a:t>Четвертый уровень</a:t>
            </a:r>
          </a:p>
          <a:p>
            <a:pPr lvl="4"/>
            <a:r>
              <a:rPr lang="ru-RU" altLang="zh-CN" smtClean="0"/>
              <a:t>Пятый уровень</a:t>
            </a:r>
            <a:endParaRPr lang="en-US" dirty="0"/>
          </a:p>
        </p:txBody>
      </p:sp>
      <p:sp>
        <p:nvSpPr>
          <p:cNvPr id="104862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zh-CN" smtClean="0"/>
              <a:t>Образец текста</a:t>
            </a:r>
          </a:p>
        </p:txBody>
      </p:sp>
      <p:sp>
        <p:nvSpPr>
          <p:cNvPr id="1048630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altLang="zh-CN" smtClean="0"/>
              <a:t>Образец текста</a:t>
            </a:r>
          </a:p>
          <a:p>
            <a:pPr lvl="1"/>
            <a:r>
              <a:rPr lang="ru-RU" altLang="zh-CN" smtClean="0"/>
              <a:t>Второй уровень</a:t>
            </a:r>
          </a:p>
          <a:p>
            <a:pPr lvl="2"/>
            <a:r>
              <a:rPr lang="ru-RU" altLang="zh-CN" smtClean="0"/>
              <a:t>Третий уровень</a:t>
            </a:r>
          </a:p>
          <a:p>
            <a:pPr lvl="3"/>
            <a:r>
              <a:rPr lang="ru-RU" altLang="zh-CN" smtClean="0"/>
              <a:t>Четвертый уровень</a:t>
            </a:r>
          </a:p>
          <a:p>
            <a:pPr lvl="4"/>
            <a:r>
              <a:rPr lang="ru-RU" altLang="zh-CN" smtClean="0"/>
              <a:t>Пятый уровень</a:t>
            </a:r>
            <a:endParaRPr lang="en-US" dirty="0"/>
          </a:p>
        </p:txBody>
      </p:sp>
      <p:sp>
        <p:nvSpPr>
          <p:cNvPr id="104863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9C8F3-725A-4F9A-A507-94E9D5D4F6DB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104863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40409-DAE8-4674-9087-DC3CFB3688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smtClean="0"/>
              <a:t>Образец заголовка</a:t>
            </a:r>
            <a:endParaRPr lang="en-US" dirty="0"/>
          </a:p>
        </p:txBody>
      </p:sp>
      <p:sp>
        <p:nvSpPr>
          <p:cNvPr id="104859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9C8F3-725A-4F9A-A507-94E9D5D4F6DB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104859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40409-DAE8-4674-9087-DC3CFB3688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9C8F3-725A-4F9A-A507-94E9D5D4F6DB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104863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40409-DAE8-4674-9087-DC3CFB3688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altLang="zh-CN" smtClean="0"/>
              <a:t>Образец заголовка</a:t>
            </a:r>
            <a:endParaRPr lang="en-US" dirty="0"/>
          </a:p>
        </p:txBody>
      </p:sp>
      <p:sp>
        <p:nvSpPr>
          <p:cNvPr id="1048638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altLang="zh-CN" smtClean="0"/>
              <a:t>Образец текста</a:t>
            </a:r>
          </a:p>
          <a:p>
            <a:pPr lvl="1"/>
            <a:r>
              <a:rPr lang="ru-RU" altLang="zh-CN" smtClean="0"/>
              <a:t>Второй уровень</a:t>
            </a:r>
          </a:p>
          <a:p>
            <a:pPr lvl="2"/>
            <a:r>
              <a:rPr lang="ru-RU" altLang="zh-CN" smtClean="0"/>
              <a:t>Третий уровень</a:t>
            </a:r>
          </a:p>
          <a:p>
            <a:pPr lvl="3"/>
            <a:r>
              <a:rPr lang="ru-RU" altLang="zh-CN" smtClean="0"/>
              <a:t>Четвертый уровень</a:t>
            </a:r>
          </a:p>
          <a:p>
            <a:pPr lvl="4"/>
            <a:r>
              <a:rPr lang="ru-RU" altLang="zh-CN" smtClean="0"/>
              <a:t>Пятый уровень</a:t>
            </a:r>
            <a:endParaRPr lang="en-US" dirty="0"/>
          </a:p>
        </p:txBody>
      </p:sp>
      <p:sp>
        <p:nvSpPr>
          <p:cNvPr id="1048639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zh-CN" smtClean="0"/>
              <a:t>Образец текста</a:t>
            </a:r>
          </a:p>
        </p:txBody>
      </p:sp>
      <p:sp>
        <p:nvSpPr>
          <p:cNvPr id="104864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9C8F3-725A-4F9A-A507-94E9D5D4F6DB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104864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4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40409-DAE8-4674-9087-DC3CFB3688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altLang="zh-CN" smtClean="0"/>
              <a:t>Образец заголовка</a:t>
            </a:r>
            <a:endParaRPr lang="en-US" dirty="0"/>
          </a:p>
        </p:txBody>
      </p:sp>
      <p:sp>
        <p:nvSpPr>
          <p:cNvPr id="1048605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altLang="zh-CN" smtClean="0"/>
              <a:t>Вставка рисунка</a:t>
            </a:r>
            <a:endParaRPr lang="en-US" dirty="0"/>
          </a:p>
        </p:txBody>
      </p:sp>
      <p:sp>
        <p:nvSpPr>
          <p:cNvPr id="1048606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zh-CN" smtClean="0"/>
              <a:t>Образец текста</a:t>
            </a:r>
          </a:p>
        </p:txBody>
      </p:sp>
      <p:sp>
        <p:nvSpPr>
          <p:cNvPr id="104860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9C8F3-725A-4F9A-A507-94E9D5D4F6DB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104860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40409-DAE8-4674-9087-DC3CFB3688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smtClean="0"/>
              <a:t>Образец заголовка</a:t>
            </a:r>
            <a:endParaRPr lang="en-US" dirty="0"/>
          </a:p>
        </p:txBody>
      </p:sp>
      <p:sp>
        <p:nvSpPr>
          <p:cNvPr id="104861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altLang="zh-CN" smtClean="0"/>
              <a:t>Образец текста</a:t>
            </a:r>
          </a:p>
          <a:p>
            <a:pPr lvl="1"/>
            <a:r>
              <a:rPr lang="ru-RU" altLang="zh-CN" smtClean="0"/>
              <a:t>Второй уровень</a:t>
            </a:r>
          </a:p>
          <a:p>
            <a:pPr lvl="2"/>
            <a:r>
              <a:rPr lang="ru-RU" altLang="zh-CN" smtClean="0"/>
              <a:t>Третий уровень</a:t>
            </a:r>
          </a:p>
          <a:p>
            <a:pPr lvl="3"/>
            <a:r>
              <a:rPr lang="ru-RU" altLang="zh-CN" smtClean="0"/>
              <a:t>Четвертый уровень</a:t>
            </a:r>
          </a:p>
          <a:p>
            <a:pPr lvl="4"/>
            <a:r>
              <a:rPr lang="ru-RU" altLang="zh-CN" smtClean="0"/>
              <a:t>Пятый уровень</a:t>
            </a:r>
            <a:endParaRPr lang="en-US" dirty="0"/>
          </a:p>
        </p:txBody>
      </p:sp>
      <p:sp>
        <p:nvSpPr>
          <p:cNvPr id="104861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9C8F3-725A-4F9A-A507-94E9D5D4F6DB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104861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40409-DAE8-4674-9087-DC3CFB3688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altLang="zh-CN" smtClean="0"/>
              <a:t>Образец заголовка</a:t>
            </a:r>
            <a:endParaRPr lang="en-US" dirty="0"/>
          </a:p>
        </p:txBody>
      </p:sp>
      <p:sp>
        <p:nvSpPr>
          <p:cNvPr id="104860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altLang="zh-CN" smtClean="0"/>
              <a:t>Образец текста</a:t>
            </a:r>
          </a:p>
          <a:p>
            <a:pPr lvl="1"/>
            <a:r>
              <a:rPr lang="ru-RU" altLang="zh-CN" smtClean="0"/>
              <a:t>Второй уровень</a:t>
            </a:r>
          </a:p>
          <a:p>
            <a:pPr lvl="2"/>
            <a:r>
              <a:rPr lang="ru-RU" altLang="zh-CN" smtClean="0"/>
              <a:t>Третий уровень</a:t>
            </a:r>
          </a:p>
          <a:p>
            <a:pPr lvl="3"/>
            <a:r>
              <a:rPr lang="ru-RU" altLang="zh-CN" smtClean="0"/>
              <a:t>Четвертый уровень</a:t>
            </a:r>
          </a:p>
          <a:p>
            <a:pPr lvl="4"/>
            <a:r>
              <a:rPr lang="ru-RU" altLang="zh-CN" smtClean="0"/>
              <a:t>Пятый уровень</a:t>
            </a:r>
            <a:endParaRPr lang="en-US" dirty="0"/>
          </a:p>
        </p:txBody>
      </p:sp>
      <p:sp>
        <p:nvSpPr>
          <p:cNvPr id="104860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9C8F3-725A-4F9A-A507-94E9D5D4F6DB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104860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40409-DAE8-4674-9087-DC3CFB3688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altLang="zh-CN" smtClean="0"/>
              <a:t>Образец заголовка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altLang="zh-CN" smtClean="0"/>
              <a:t>Образец текста</a:t>
            </a:r>
          </a:p>
          <a:p>
            <a:pPr lvl="1"/>
            <a:r>
              <a:rPr lang="ru-RU" altLang="zh-CN" smtClean="0"/>
              <a:t>Второй уровень</a:t>
            </a:r>
          </a:p>
          <a:p>
            <a:pPr lvl="2"/>
            <a:r>
              <a:rPr lang="ru-RU" altLang="zh-CN" smtClean="0"/>
              <a:t>Третий уровень</a:t>
            </a:r>
          </a:p>
          <a:p>
            <a:pPr lvl="3"/>
            <a:r>
              <a:rPr lang="ru-RU" altLang="zh-CN" smtClean="0"/>
              <a:t>Четвертый уровень</a:t>
            </a:r>
          </a:p>
          <a:p>
            <a:pPr lvl="4"/>
            <a:r>
              <a:rPr lang="ru-RU" altLang="zh-CN" smtClean="0"/>
              <a:t>Пятый уровень</a:t>
            </a:r>
            <a:endParaRPr 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9C8F3-725A-4F9A-A507-94E9D5D4F6DB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40409-DAE8-4674-9087-DC3CFB3688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albesssss/session-performance" TargetMode="Externa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9156987" cy="5583900"/>
          </a:xfrm>
        </p:spPr>
        <p:txBody>
          <a:bodyPr anchor="ctr" anchorCtr="1">
            <a:normAutofit/>
          </a:bodyPr>
          <a:lstStyle/>
          <a:p>
            <a:pPr>
              <a:lnSpc>
                <a:spcPct val="100000"/>
              </a:lnSpc>
            </a:pPr>
            <a:r>
              <a:rPr lang="ru-RU" altLang="en-US" sz="32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Отчет по УД МДК </a:t>
            </a:r>
            <a:r>
              <a:rPr lang="ru-RU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02.01 Технология </a:t>
            </a:r>
            <a:r>
              <a:rPr lang="ru-RU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разработки ПО «Проектирование приложения для контроля сессионной успеваемости студентов»</a:t>
            </a:r>
            <a:endParaRPr lang="ru-RU" altLang="en-US" sz="32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7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" y="5484476"/>
            <a:ext cx="9144000" cy="1373524"/>
          </a:xfrm>
        </p:spPr>
        <p:txBody>
          <a:bodyPr anchor="t"/>
          <a:lstStyle/>
          <a:p>
            <a:pPr algn="r">
              <a:lnSpc>
                <a:spcPct val="100000"/>
              </a:lnSpc>
            </a:pPr>
            <a:r>
              <a:rPr lang="x-none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</a:t>
            </a:r>
            <a:r>
              <a:rPr lang="en-US" altLang="x-none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</a:pPr>
            <a:r>
              <a:rPr lang="x-none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студенты</a:t>
            </a:r>
            <a:r>
              <a:rPr lang="en-US" altLang="x-none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altLang="x-none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</a:t>
            </a:r>
            <a:r>
              <a:rPr lang="en-US" altLang="x-none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3-2</a:t>
            </a:r>
            <a:r>
              <a:rPr lang="x-none" altLang="x-none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en-US" altLang="x-none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ru-RU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</a:pPr>
            <a:r>
              <a:rPr lang="x-none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Исаков</a:t>
            </a:r>
            <a:r>
              <a:rPr lang="en-US" altLang="x-none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altLang="x-none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en-US" altLang="x-none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x-none" altLang="x-none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altLang="x-none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</a:pPr>
            <a:r>
              <a:rPr lang="x-none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Махин</a:t>
            </a:r>
            <a:r>
              <a:rPr lang="en-US" altLang="x-none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altLang="x-none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en-US" altLang="x-none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x-none" altLang="x-none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altLang="x-none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-1" y="0"/>
            <a:ext cx="9144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Областное государственное бюджетное профессиональное образовательное учреждение</a:t>
            </a:r>
          </a:p>
          <a:p>
            <a:pPr algn="ctr"/>
            <a:r>
              <a:rPr lang="ru-RU" dirty="0"/>
              <a:t>«КОСТРОМСКОЙ ПОЛИТЕХНИЧЕСКИЙ КОЛЛЕДЖ»</a:t>
            </a:r>
          </a:p>
          <a:p>
            <a:pPr algn="ctr"/>
            <a:r>
              <a:rPr lang="ru-RU" dirty="0"/>
              <a:t> </a:t>
            </a:r>
          </a:p>
          <a:p>
            <a:pPr algn="ctr"/>
            <a:r>
              <a:rPr lang="ru-RU" dirty="0"/>
              <a:t>Специальность: 09.02.07 «Информационные системы и программирование»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Теоритические основы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4" name="Объект 1048593"/>
          <p:cNvSpPr>
            <a:spLocks noGrp="1"/>
          </p:cNvSpPr>
          <p:nvPr>
            <p:ph idx="1"/>
          </p:nvPr>
        </p:nvSpPr>
        <p:spPr>
          <a:xfrm>
            <a:off x="16" y="786213"/>
            <a:ext cx="9143984" cy="6071787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разработки: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приложение для более удобного и легкого просмотра успеваемости за семестр.</a:t>
            </a:r>
          </a:p>
          <a:p>
            <a:pPr algn="just">
              <a:lnSpc>
                <a:spcPct val="100000"/>
              </a:lnSpc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предметную область.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 создать макет (БД и внешнего дизайна).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Переписать макет на язык программирования, создать функционал.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085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60576"/>
          </a:xfrm>
        </p:spPr>
        <p:txBody>
          <a:bodyPr/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 область 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0" y="760576"/>
            <a:ext cx="2948299" cy="6097423"/>
          </a:xfrm>
        </p:spPr>
        <p:txBody>
          <a:bodyPr>
            <a:normAutofit fontScale="92500" lnSpcReduction="10000"/>
          </a:bodyPr>
          <a:lstStyle/>
          <a:p>
            <a:pPr marL="0" lvl="0" indent="450850" algn="just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Реляционная </a:t>
            </a:r>
            <a:r>
              <a:rPr lang="ru-RU" alt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схема:</a:t>
            </a:r>
            <a:endParaRPr lang="en-US" altLang="ru-RU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altLang="ru-RU" sz="15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Администрация</a:t>
            </a:r>
            <a:endParaRPr lang="en-US" altLang="ru-RU" sz="15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(ID </a:t>
            </a:r>
            <a:r>
              <a:rPr lang="ru-RU" alt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администратора</a:t>
            </a:r>
            <a:r>
              <a:rPr lang="ru-RU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ID пользователя.)</a:t>
            </a:r>
            <a:endParaRPr lang="ru-RU" altLang="ru-R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altLang="ru-RU" sz="15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Преподаватели</a:t>
            </a:r>
            <a:endParaRPr lang="en-US" altLang="ru-RU" sz="15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(ID </a:t>
            </a:r>
            <a:r>
              <a:rPr lang="ru-RU" alt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преподавателя</a:t>
            </a:r>
            <a:r>
              <a:rPr lang="ru-RU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ID пользователя, </a:t>
            </a:r>
            <a:r>
              <a:rPr lang="en-US" alt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ru-RU" alt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дисциплины.)</a:t>
            </a:r>
            <a:endParaRPr lang="ru-RU" altLang="ru-R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altLang="ru-RU" sz="15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Студенты</a:t>
            </a:r>
            <a:endParaRPr lang="en-US" altLang="ru-RU" sz="15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(ID студента, ID пользователя, </a:t>
            </a:r>
            <a:r>
              <a:rPr lang="en-US" alt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ru-RU" alt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группы.)</a:t>
            </a:r>
            <a:endParaRPr lang="ru-RU" altLang="ru-R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altLang="ru-RU" sz="15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Дисциплины</a:t>
            </a:r>
            <a:endParaRPr lang="en-US" altLang="ru-RU" sz="15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(ID </a:t>
            </a:r>
            <a:r>
              <a:rPr lang="ru-RU" alt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дисциплины, наименование.)</a:t>
            </a:r>
            <a:endParaRPr lang="ru-RU" altLang="ru-R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altLang="ru-RU" sz="15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Группы</a:t>
            </a:r>
            <a:endParaRPr lang="en-US" altLang="ru-RU" sz="15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(ID </a:t>
            </a:r>
            <a:r>
              <a:rPr lang="ru-RU" alt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группы, код группы.)</a:t>
            </a:r>
            <a:endParaRPr lang="ru-RU" altLang="ru-R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altLang="ru-RU" sz="15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Сессия</a:t>
            </a:r>
            <a:endParaRPr lang="en-US" altLang="ru-RU" sz="15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(ID </a:t>
            </a:r>
            <a:r>
              <a:rPr lang="ru-RU" alt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сессии, наименование, начало сессии, конец сессии, активность.)</a:t>
            </a:r>
            <a:endParaRPr lang="ru-RU" altLang="ru-R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altLang="ru-RU" sz="15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Оценка</a:t>
            </a:r>
            <a:endParaRPr lang="en-US" altLang="ru-RU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(ID оценки, </a:t>
            </a:r>
            <a:r>
              <a:rPr lang="en-US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ru-RU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студент, ID преподавателя, </a:t>
            </a:r>
            <a:r>
              <a:rPr lang="en-US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ru-RU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дисциплина, </a:t>
            </a:r>
            <a:r>
              <a:rPr lang="en-US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ru-RU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сессия, оценка, время изменения.)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altLang="ru-RU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alt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 пользователя, </a:t>
            </a:r>
            <a:r>
              <a:rPr lang="ru-RU" alt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Фамилия, Имя, Отчеств</a:t>
            </a:r>
            <a:r>
              <a:rPr lang="ru-RU" alt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alt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пароль, роль)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949" y="760576"/>
            <a:ext cx="5992401" cy="40015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31" y="883148"/>
            <a:ext cx="5010563" cy="265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0716" y="3756249"/>
            <a:ext cx="3343167" cy="2411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992" y="709863"/>
            <a:ext cx="2170113" cy="596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48" r="22571"/>
          <a:stretch/>
        </p:blipFill>
        <p:spPr bwMode="auto">
          <a:xfrm>
            <a:off x="288756" y="3762631"/>
            <a:ext cx="2887579" cy="2404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0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FIGMA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Объект 1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" b="7619"/>
          <a:stretch/>
        </p:blipFill>
        <p:spPr>
          <a:xfrm>
            <a:off x="4618142" y="1401674"/>
            <a:ext cx="4285862" cy="2335057"/>
          </a:xfr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r="13210"/>
          <a:stretch/>
        </p:blipFill>
        <p:spPr>
          <a:xfrm>
            <a:off x="102121" y="4026878"/>
            <a:ext cx="4378146" cy="251962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81" y="1401674"/>
            <a:ext cx="4276025" cy="245437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142" y="3961561"/>
            <a:ext cx="4350083" cy="258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17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03" y="822076"/>
            <a:ext cx="4615734" cy="3328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5767" y="846139"/>
            <a:ext cx="3794881" cy="4315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367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4" y="829984"/>
            <a:ext cx="4162425" cy="537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902" y="829984"/>
            <a:ext cx="2314575" cy="570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811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19" y="711200"/>
            <a:ext cx="2172201" cy="5968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405" y="711200"/>
            <a:ext cx="1714500" cy="596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1405" y="711200"/>
            <a:ext cx="1820027" cy="5938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275" y="711200"/>
            <a:ext cx="1867652" cy="5986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1527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69" r="22763"/>
          <a:stretch/>
        </p:blipFill>
        <p:spPr bwMode="auto">
          <a:xfrm>
            <a:off x="902368" y="786270"/>
            <a:ext cx="3549317" cy="2993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2" r="14869" b="4632"/>
          <a:stretch/>
        </p:blipFill>
        <p:spPr bwMode="auto">
          <a:xfrm>
            <a:off x="5149515" y="785646"/>
            <a:ext cx="3356811" cy="3064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68" y="3998932"/>
            <a:ext cx="4027070" cy="2524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430" y="3998932"/>
            <a:ext cx="4440906" cy="2526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901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4" name="Объект 1048593"/>
          <p:cNvSpPr>
            <a:spLocks noGrp="1"/>
          </p:cNvSpPr>
          <p:nvPr>
            <p:ph idx="1"/>
          </p:nvPr>
        </p:nvSpPr>
        <p:spPr>
          <a:xfrm>
            <a:off x="16" y="786213"/>
            <a:ext cx="9143984" cy="6071787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457200" indent="-457200" algn="just">
              <a:lnSpc>
                <a:spcPct val="100000"/>
              </a:lnSpc>
              <a:buAutoNum type="arabicParenR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БД</a:t>
            </a:r>
          </a:p>
          <a:p>
            <a:pPr marL="457200" indent="-457200" algn="just">
              <a:lnSpc>
                <a:spcPct val="100000"/>
              </a:lnSpc>
              <a:buAutoNum type="arabicParenR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Написать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10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БД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76" y="1295950"/>
            <a:ext cx="2790825" cy="704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08644" y="1406065"/>
            <a:ext cx="2128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 Базовая модель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76" y="2034593"/>
            <a:ext cx="6981825" cy="3162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6776" y="784937"/>
            <a:ext cx="867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Создание основы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7606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БД</a:t>
            </a:r>
          </a:p>
        </p:txBody>
      </p:sp>
      <p:sp>
        <p:nvSpPr>
          <p:cNvPr id="1048594" name="Объект 1048593"/>
          <p:cNvSpPr>
            <a:spLocks noGrp="1"/>
          </p:cNvSpPr>
          <p:nvPr>
            <p:ph idx="1"/>
          </p:nvPr>
        </p:nvSpPr>
        <p:spPr>
          <a:xfrm>
            <a:off x="16" y="786213"/>
            <a:ext cx="9143984" cy="6071787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ролей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1" y="1403605"/>
            <a:ext cx="4705350" cy="51435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1" y="2070886"/>
            <a:ext cx="4676775" cy="18669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1" y="4177148"/>
            <a:ext cx="4762500" cy="781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64429" y="3154472"/>
            <a:ext cx="428936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dirty="0" smtClean="0"/>
              <a:t>Создает отношение многие ко многим</a:t>
            </a:r>
            <a:endParaRPr lang="ru-RU" dirty="0"/>
          </a:p>
        </p:txBody>
      </p:sp>
      <p:cxnSp>
        <p:nvCxnSpPr>
          <p:cNvPr id="12" name="Прямая со стрелкой 11"/>
          <p:cNvCxnSpPr/>
          <p:nvPr/>
        </p:nvCxnSpPr>
        <p:spPr>
          <a:xfrm flipH="1" flipV="1">
            <a:off x="1945179" y="3262782"/>
            <a:ext cx="2236124" cy="1745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852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БД</a:t>
            </a:r>
          </a:p>
        </p:txBody>
      </p:sp>
      <p:sp>
        <p:nvSpPr>
          <p:cNvPr id="1048594" name="Объект 1048593"/>
          <p:cNvSpPr>
            <a:spLocks noGrp="1"/>
          </p:cNvSpPr>
          <p:nvPr>
            <p:ph idx="1"/>
          </p:nvPr>
        </p:nvSpPr>
        <p:spPr>
          <a:xfrm>
            <a:off x="16" y="786213"/>
            <a:ext cx="9143984" cy="6071787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5970"/>
            <a:ext cx="4648200" cy="12287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b="15541"/>
          <a:stretch/>
        </p:blipFill>
        <p:spPr>
          <a:xfrm>
            <a:off x="0" y="1274770"/>
            <a:ext cx="4491925" cy="59531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1222" y="1274770"/>
            <a:ext cx="3609975" cy="4953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396939"/>
            <a:ext cx="900112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74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БД</a:t>
            </a:r>
          </a:p>
        </p:txBody>
      </p:sp>
      <p:pic>
        <p:nvPicPr>
          <p:cNvPr id="2" name="Объект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80259"/>
            <a:ext cx="9144000" cy="388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13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последующих задач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9093"/>
            <a:ext cx="8670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1) Сценарии для студента</a:t>
            </a:r>
          </a:p>
          <a:p>
            <a:r>
              <a:rPr lang="ru-RU" dirty="0"/>
              <a:t>2) Сценарии для преподавателя</a:t>
            </a:r>
          </a:p>
          <a:p>
            <a:r>
              <a:rPr lang="ru-RU" dirty="0"/>
              <a:t>3) Сценарии для администратора</a:t>
            </a:r>
          </a:p>
        </p:txBody>
      </p:sp>
    </p:spTree>
    <p:extLst>
      <p:ext uri="{BB962C8B-B14F-4D97-AF65-F5344CB8AC3E}">
        <p14:creationId xmlns:p14="http://schemas.microsoft.com/office/powerpoint/2010/main" val="191999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студента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9093"/>
            <a:ext cx="8670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#1: Регистрация в системе</a:t>
            </a:r>
          </a:p>
          <a:p>
            <a:r>
              <a:rPr lang="ru-RU" b="1" dirty="0"/>
              <a:t>Как студент, я хочу:</a:t>
            </a:r>
            <a:r>
              <a:rPr lang="ru-RU" dirty="0"/>
              <a:t> зарегистрироваться в системе</a:t>
            </a:r>
            <a:br>
              <a:rPr lang="ru-RU" dirty="0"/>
            </a:br>
            <a:r>
              <a:rPr lang="ru-RU" b="1" dirty="0"/>
              <a:t>Чтобы:</a:t>
            </a:r>
            <a:r>
              <a:rPr lang="ru-RU" dirty="0"/>
              <a:t> получить доступ к своему электронному дневнику</a:t>
            </a:r>
          </a:p>
          <a:p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876511"/>
            <a:ext cx="831532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4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студента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 smtClean="0"/>
              <a:t>User</a:t>
            </a:r>
            <a:r>
              <a:rPr lang="ru-RU" b="1" dirty="0" smtClean="0"/>
              <a:t> </a:t>
            </a:r>
            <a:r>
              <a:rPr lang="ru-RU" b="1" dirty="0" err="1" smtClean="0"/>
              <a:t>Story</a:t>
            </a:r>
            <a:r>
              <a:rPr lang="ru-RU" b="1" dirty="0" smtClean="0"/>
              <a:t> #1: Регистрация в системе</a:t>
            </a:r>
          </a:p>
          <a:p>
            <a:r>
              <a:rPr lang="ru-RU" dirty="0" smtClean="0"/>
              <a:t>Входные данные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54" y="1698550"/>
            <a:ext cx="2333625" cy="10477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54" y="3194990"/>
            <a:ext cx="4991100" cy="1285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9354" y="4527969"/>
            <a:ext cx="867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Ответ (если пользователь есть в БД)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389312" y="2909656"/>
            <a:ext cx="867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Ответ (если пользователя нет в БД)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54" y="4927887"/>
            <a:ext cx="5153025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9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студента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#2: Просмотр своих оценок</a:t>
            </a:r>
          </a:p>
          <a:p>
            <a:r>
              <a:rPr lang="ru-RU" b="1" dirty="0"/>
              <a:t>Как студент, я хочу:</a:t>
            </a:r>
            <a:r>
              <a:rPr lang="ru-RU" dirty="0"/>
              <a:t> видеть все свои текущие оценки</a:t>
            </a:r>
            <a:br>
              <a:rPr lang="ru-RU" dirty="0"/>
            </a:br>
            <a:r>
              <a:rPr lang="ru-RU" b="1" dirty="0"/>
              <a:t>Чтобы:</a:t>
            </a:r>
            <a:r>
              <a:rPr lang="ru-RU" dirty="0"/>
              <a:t> отслеживать академическую успеваемость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945177"/>
            <a:ext cx="6987938" cy="476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2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студента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#2: Просмотр своих </a:t>
            </a:r>
            <a:r>
              <a:rPr lang="ru-RU" b="1" dirty="0" smtClean="0"/>
              <a:t>оценок</a:t>
            </a:r>
            <a:endParaRPr lang="ru-RU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38" y="1809479"/>
            <a:ext cx="5876925" cy="1485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39" y="1440147"/>
            <a:ext cx="867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При попытке посмотреть оценки НЕ за студента</a:t>
            </a:r>
            <a:endParaRPr lang="ru-RU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38" y="3747081"/>
            <a:ext cx="4924425" cy="2924175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335279" y="3324658"/>
            <a:ext cx="61165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При попытке посмотреть оценки </a:t>
            </a:r>
            <a:r>
              <a:rPr lang="ru-RU" b="1" dirty="0" smtClean="0"/>
              <a:t>за </a:t>
            </a:r>
            <a:r>
              <a:rPr lang="ru-RU" b="1" dirty="0"/>
              <a:t>студента</a:t>
            </a:r>
          </a:p>
        </p:txBody>
      </p:sp>
    </p:spTree>
    <p:extLst>
      <p:ext uri="{BB962C8B-B14F-4D97-AF65-F5344CB8AC3E}">
        <p14:creationId xmlns:p14="http://schemas.microsoft.com/office/powerpoint/2010/main" val="1318866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преподавателя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#3: Выставление одиночной оценки</a:t>
            </a:r>
          </a:p>
          <a:p>
            <a:r>
              <a:rPr lang="ru-RU" b="1" dirty="0"/>
              <a:t>Как преподаватель, я хочу:</a:t>
            </a:r>
            <a:r>
              <a:rPr lang="ru-RU" dirty="0"/>
              <a:t> выставить оценку конкретному студенту</a:t>
            </a:r>
            <a:br>
              <a:rPr lang="ru-RU" dirty="0"/>
            </a:br>
            <a:r>
              <a:rPr lang="ru-RU" b="1" dirty="0"/>
              <a:t>Чтобы:</a:t>
            </a:r>
            <a:r>
              <a:rPr lang="ru-RU" dirty="0"/>
              <a:t> вести учет успеваемости по своей дисциплин</a:t>
            </a:r>
            <a:endParaRPr lang="ru-RU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50" y="1884110"/>
            <a:ext cx="5741579" cy="494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преподавателя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#3: Выставление одиночной оценки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41" y="1809750"/>
            <a:ext cx="3009900" cy="1409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39" y="1385265"/>
            <a:ext cx="867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Запрос</a:t>
            </a:r>
            <a:endParaRPr lang="ru-RU" b="1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41" y="3678641"/>
            <a:ext cx="4191000" cy="16287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83628" y="3219450"/>
            <a:ext cx="2544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Ответ если оценки нет</a:t>
            </a:r>
            <a:endParaRPr lang="ru-RU" b="1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628" y="3653778"/>
            <a:ext cx="4191000" cy="1628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8541" y="3270501"/>
            <a:ext cx="2544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Ответ если оценка есть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90107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преподавателя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#4: Массовое выставление оценок группе</a:t>
            </a:r>
          </a:p>
          <a:p>
            <a:r>
              <a:rPr lang="ru-RU" b="1" dirty="0"/>
              <a:t>Как преподаватель, я хочу:</a:t>
            </a:r>
            <a:r>
              <a:rPr lang="ru-RU" dirty="0"/>
              <a:t> выставить оценки всем студентам группы сразу</a:t>
            </a:r>
            <a:br>
              <a:rPr lang="ru-RU" dirty="0"/>
            </a:br>
            <a:r>
              <a:rPr lang="ru-RU" b="1" dirty="0"/>
              <a:t>Чтобы:</a:t>
            </a:r>
            <a:r>
              <a:rPr lang="ru-RU" dirty="0"/>
              <a:t> сэкономить время при заполнении ведомости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821439"/>
            <a:ext cx="4695825" cy="33813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101" y="3229753"/>
            <a:ext cx="504825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77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преподавателя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#5: Просмотр успеваемости группы</a:t>
            </a:r>
          </a:p>
          <a:p>
            <a:r>
              <a:rPr lang="ru-RU" b="1" dirty="0"/>
              <a:t>Как преподаватель, я хочу:</a:t>
            </a:r>
            <a:r>
              <a:rPr lang="ru-RU" dirty="0"/>
              <a:t> видеть оценки студентов своей группы</a:t>
            </a:r>
            <a:br>
              <a:rPr lang="ru-RU" dirty="0"/>
            </a:br>
            <a:r>
              <a:rPr lang="ru-RU" b="1" dirty="0"/>
              <a:t>Чтобы:</a:t>
            </a:r>
            <a:r>
              <a:rPr lang="ru-RU" dirty="0"/>
              <a:t> анализировать общую успеваемость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1884110"/>
            <a:ext cx="6931592" cy="462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736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/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преподавателя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#5: Просмотр успеваемости </a:t>
            </a:r>
            <a:r>
              <a:rPr lang="ru-RU" b="1" dirty="0" smtClean="0"/>
              <a:t>группы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63" y="1330112"/>
            <a:ext cx="5367944" cy="349379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63" y="5036127"/>
            <a:ext cx="46863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67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сотрудника учебного отдела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#6: Управление преподавателями</a:t>
            </a:r>
          </a:p>
          <a:p>
            <a:r>
              <a:rPr lang="ru-RU" b="1" dirty="0"/>
              <a:t>Как сотрудник учебного отдела, я хочу:</a:t>
            </a:r>
            <a:r>
              <a:rPr lang="ru-RU" dirty="0"/>
              <a:t> добавлять новых преподавателей</a:t>
            </a:r>
            <a:br>
              <a:rPr lang="ru-RU" dirty="0"/>
            </a:br>
            <a:r>
              <a:rPr lang="ru-RU" b="1" dirty="0"/>
              <a:t>Чтобы:</a:t>
            </a:r>
            <a:r>
              <a:rPr lang="ru-RU" dirty="0"/>
              <a:t> расширять преподавательский состав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" y="1847850"/>
            <a:ext cx="8711565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708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сотрудника учебного отдела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#6: Управление преподавателями</a:t>
            </a:r>
          </a:p>
          <a:p>
            <a:r>
              <a:rPr lang="ru-RU" b="1" dirty="0"/>
              <a:t>Как сотрудник учебного отдела, я хочу:</a:t>
            </a:r>
            <a:r>
              <a:rPr lang="ru-RU" dirty="0"/>
              <a:t> добавлять новых преподавателей</a:t>
            </a:r>
            <a:br>
              <a:rPr lang="ru-RU" dirty="0"/>
            </a:br>
            <a:r>
              <a:rPr lang="ru-RU" b="1" dirty="0"/>
              <a:t>Чтобы:</a:t>
            </a:r>
            <a:r>
              <a:rPr lang="ru-RU" dirty="0"/>
              <a:t> расширять преподавательский состав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2058677"/>
            <a:ext cx="2514600" cy="126682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337" y="2058676"/>
            <a:ext cx="5048250" cy="12668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337" y="3500067"/>
            <a:ext cx="5800725" cy="15430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37" y="3638179"/>
            <a:ext cx="251460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4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сотрудника учебного отдела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#</a:t>
            </a:r>
            <a:r>
              <a:rPr lang="ru-RU" b="1" dirty="0" smtClean="0"/>
              <a:t>7: </a:t>
            </a:r>
            <a:r>
              <a:rPr lang="ru-RU" b="1" dirty="0"/>
              <a:t>Управление учебным планом</a:t>
            </a:r>
          </a:p>
          <a:p>
            <a:r>
              <a:rPr lang="ru-RU" b="1" dirty="0"/>
              <a:t>Как сотрудник учебного отдела, я хочу:</a:t>
            </a:r>
            <a:r>
              <a:rPr lang="ru-RU" dirty="0"/>
              <a:t> добавлять и удалять дисциплины</a:t>
            </a:r>
            <a:br>
              <a:rPr lang="ru-RU" dirty="0"/>
            </a:br>
            <a:r>
              <a:rPr lang="ru-RU" b="1" dirty="0"/>
              <a:t>Чтобы:</a:t>
            </a:r>
            <a:r>
              <a:rPr lang="ru-RU" dirty="0"/>
              <a:t> актуализировать учебный план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884111"/>
            <a:ext cx="5931132" cy="360420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452" y="5421989"/>
            <a:ext cx="5673437" cy="135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83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сотрудника учебного отдела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#</a:t>
            </a:r>
            <a:r>
              <a:rPr lang="ru-RU" b="1" dirty="0" smtClean="0"/>
              <a:t>7: </a:t>
            </a:r>
            <a:r>
              <a:rPr lang="ru-RU" b="1" dirty="0"/>
              <a:t>Управление учебным </a:t>
            </a:r>
            <a:r>
              <a:rPr lang="ru-RU" b="1" dirty="0" smtClean="0"/>
              <a:t>планом</a:t>
            </a:r>
            <a:endParaRPr lang="ru-RU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3" y="1504679"/>
            <a:ext cx="2524125" cy="6858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916" y="1423716"/>
            <a:ext cx="3819525" cy="84772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433241"/>
            <a:ext cx="2847975" cy="838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2634441"/>
            <a:ext cx="5019155" cy="81688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" y="3568585"/>
            <a:ext cx="4819650" cy="13335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1126" y="2742847"/>
            <a:ext cx="29146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89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сотрудника учебного отдела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</a:t>
            </a:r>
            <a:r>
              <a:rPr lang="ru-RU" b="1" dirty="0" smtClean="0"/>
              <a:t>#8: </a:t>
            </a:r>
            <a:r>
              <a:rPr lang="ru-RU" b="1" dirty="0"/>
              <a:t>Назначение дисциплин преподавателям</a:t>
            </a:r>
          </a:p>
          <a:p>
            <a:r>
              <a:rPr lang="ru-RU" b="1" dirty="0"/>
              <a:t>Как сотрудник учебного отдела, я хочу:</a:t>
            </a:r>
            <a:r>
              <a:rPr lang="ru-RU" dirty="0"/>
              <a:t> назначать преподавателям учебные дисциплины</a:t>
            </a:r>
            <a:br>
              <a:rPr lang="ru-RU" dirty="0"/>
            </a:br>
            <a:r>
              <a:rPr lang="ru-RU" b="1" dirty="0"/>
              <a:t>Чтобы:</a:t>
            </a:r>
            <a:r>
              <a:rPr lang="ru-RU" dirty="0"/>
              <a:t> распределить учебную нагрузку и определить кто какую дисциплину ведет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2239241"/>
            <a:ext cx="9510098" cy="312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01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сотрудника учебного отдела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4978" y="960780"/>
            <a:ext cx="867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</a:t>
            </a:r>
            <a:r>
              <a:rPr lang="ru-RU" b="1" dirty="0" smtClean="0"/>
              <a:t>#8: </a:t>
            </a:r>
            <a:r>
              <a:rPr lang="ru-RU" b="1" dirty="0"/>
              <a:t>Назначение дисциплин </a:t>
            </a:r>
            <a:r>
              <a:rPr lang="ru-RU" b="1" dirty="0" smtClean="0"/>
              <a:t>преподавателям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79" y="1504679"/>
            <a:ext cx="4463716" cy="56519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78" y="1978948"/>
            <a:ext cx="2128104" cy="90966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78" y="2718705"/>
            <a:ext cx="3818458" cy="108108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78" y="4024767"/>
            <a:ext cx="5144857" cy="66361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78" y="4688379"/>
            <a:ext cx="2128104" cy="90966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978" y="5534026"/>
            <a:ext cx="5623560" cy="117368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9650" y="4824121"/>
            <a:ext cx="432435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40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сотрудника учебного отдела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</a:t>
            </a:r>
            <a:r>
              <a:rPr lang="ru-RU" b="1" dirty="0" smtClean="0"/>
              <a:t>#</a:t>
            </a:r>
            <a:r>
              <a:rPr lang="en-US" b="1" dirty="0" smtClean="0"/>
              <a:t>9</a:t>
            </a:r>
            <a:r>
              <a:rPr lang="ru-RU" b="1" dirty="0" smtClean="0"/>
              <a:t>: </a:t>
            </a:r>
            <a:r>
              <a:rPr lang="ru-RU" b="1" dirty="0"/>
              <a:t>Создание учебных групп</a:t>
            </a:r>
          </a:p>
          <a:p>
            <a:r>
              <a:rPr lang="ru-RU" b="1" dirty="0"/>
              <a:t>Как сотрудник учебного отдела, я хочу:</a:t>
            </a:r>
            <a:r>
              <a:rPr lang="ru-RU" dirty="0"/>
              <a:t> создавать новые учебные группы</a:t>
            </a:r>
            <a:br>
              <a:rPr lang="ru-RU" dirty="0"/>
            </a:br>
            <a:r>
              <a:rPr lang="ru-RU" b="1" dirty="0"/>
              <a:t>Чтобы:</a:t>
            </a:r>
            <a:r>
              <a:rPr lang="ru-RU" dirty="0"/>
              <a:t> формировать учебные потоки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45" y="1995055"/>
            <a:ext cx="77533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237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сотрудника учебного отдела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</a:t>
            </a:r>
            <a:r>
              <a:rPr lang="ru-RU" b="1" dirty="0" smtClean="0"/>
              <a:t>#</a:t>
            </a:r>
            <a:r>
              <a:rPr lang="en-US" b="1" dirty="0" smtClean="0"/>
              <a:t>9</a:t>
            </a:r>
            <a:r>
              <a:rPr lang="ru-RU" b="1" dirty="0" smtClean="0"/>
              <a:t>: </a:t>
            </a:r>
            <a:r>
              <a:rPr lang="ru-RU" b="1" dirty="0"/>
              <a:t>Создание учебных </a:t>
            </a:r>
            <a:r>
              <a:rPr lang="ru-RU" b="1" dirty="0" smtClean="0"/>
              <a:t>групп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5049883"/>
            <a:ext cx="5791200" cy="14954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1330112"/>
            <a:ext cx="6191250" cy="10763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39" y="2469604"/>
            <a:ext cx="5419725" cy="131445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3847222"/>
            <a:ext cx="619125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5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сотрудника учебного отдела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</a:t>
            </a:r>
            <a:r>
              <a:rPr lang="ru-RU" b="1" dirty="0" smtClean="0"/>
              <a:t>#10: </a:t>
            </a:r>
            <a:r>
              <a:rPr lang="ru-RU" b="1" dirty="0"/>
              <a:t>Создание </a:t>
            </a:r>
            <a:r>
              <a:rPr lang="ru-RU" b="1" dirty="0" smtClean="0"/>
              <a:t>студентов</a:t>
            </a:r>
            <a:endParaRPr lang="ru-RU" b="1" dirty="0"/>
          </a:p>
          <a:p>
            <a:r>
              <a:rPr lang="ru-RU" b="1" dirty="0"/>
              <a:t>Как сотрудник учебного отдела, я хочу:</a:t>
            </a:r>
            <a:r>
              <a:rPr lang="ru-RU" dirty="0"/>
              <a:t> создавать </a:t>
            </a:r>
            <a:r>
              <a:rPr lang="ru-RU" dirty="0" smtClean="0"/>
              <a:t>нового студента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45" y="1701230"/>
            <a:ext cx="5899508" cy="483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37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сотрудника учебного отдела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</a:t>
            </a:r>
            <a:r>
              <a:rPr lang="ru-RU" b="1" dirty="0" smtClean="0"/>
              <a:t>#10: </a:t>
            </a:r>
            <a:r>
              <a:rPr lang="ru-RU" b="1" dirty="0"/>
              <a:t>Создание </a:t>
            </a:r>
            <a:r>
              <a:rPr lang="ru-RU" b="1" dirty="0" smtClean="0"/>
              <a:t>студентов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40" y="1504679"/>
            <a:ext cx="2209800" cy="113347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277" y="1504679"/>
            <a:ext cx="5286375" cy="13620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1277" y="3041321"/>
            <a:ext cx="5067300" cy="147637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53" y="3212770"/>
            <a:ext cx="220980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34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сотрудника учебного отдела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</a:t>
            </a:r>
            <a:r>
              <a:rPr lang="ru-RU" b="1" dirty="0" smtClean="0"/>
              <a:t>#11: Просмотр оценок всех групп</a:t>
            </a:r>
            <a:endParaRPr lang="ru-RU" b="1" dirty="0"/>
          </a:p>
          <a:p>
            <a:r>
              <a:rPr lang="ru-RU" b="1" dirty="0"/>
              <a:t>Как сотрудник учебного отдела, я хочу:</a:t>
            </a:r>
            <a:r>
              <a:rPr lang="ru-RU" dirty="0"/>
              <a:t> </a:t>
            </a:r>
            <a:r>
              <a:rPr lang="ru-RU" dirty="0" smtClean="0"/>
              <a:t>просмотреть оценки всех групп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81" y="1689301"/>
            <a:ext cx="788670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61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сотрудника учебного отдела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</a:t>
            </a:r>
            <a:r>
              <a:rPr lang="ru-RU" b="1" dirty="0" smtClean="0"/>
              <a:t>#11: Просмотр оценок всех групп</a:t>
            </a:r>
            <a:endParaRPr lang="ru-RU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7" y="1330112"/>
            <a:ext cx="5141423" cy="536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12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сотрудника учебного отдела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</a:t>
            </a:r>
            <a:r>
              <a:rPr lang="ru-RU" b="1" dirty="0" smtClean="0"/>
              <a:t>#12: Просмотр оценок определенной группы</a:t>
            </a:r>
            <a:endParaRPr lang="ru-RU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41" y="1330112"/>
            <a:ext cx="7738743" cy="515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9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для сотрудника учебного отдела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39" y="960780"/>
            <a:ext cx="867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Story</a:t>
            </a:r>
            <a:r>
              <a:rPr lang="ru-RU" b="1" dirty="0"/>
              <a:t> </a:t>
            </a:r>
            <a:r>
              <a:rPr lang="ru-RU" b="1" dirty="0" smtClean="0"/>
              <a:t>#12: Просмотр оценок определенной группы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504679"/>
            <a:ext cx="6448425" cy="81915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2402379"/>
            <a:ext cx="1995906" cy="429768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5945" y="2402379"/>
            <a:ext cx="422910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2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 используемые для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endpoint’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ов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736" y="786213"/>
            <a:ext cx="2513041" cy="58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2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Зависимости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786213"/>
            <a:ext cx="5257800" cy="17526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621" y="2917768"/>
            <a:ext cx="4703386" cy="345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01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Конфиг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хранения ключа, алгоритма и длительности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токена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jwt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128" y="1570498"/>
            <a:ext cx="5966712" cy="341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14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621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133" y="892405"/>
            <a:ext cx="3337733" cy="507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11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4128093" y="563219"/>
            <a:ext cx="4588625" cy="78621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на </a:t>
            </a:r>
            <a:r>
              <a:rPr lang="ru-RU" sz="33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репозиторий</a:t>
            </a:r>
            <a:endParaRPr lang="ru-RU" sz="3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985" y="1645919"/>
            <a:ext cx="2244183" cy="4966509"/>
          </a:xfrm>
          <a:prstGeom prst="rect">
            <a:avLst/>
          </a:prstGeom>
        </p:spPr>
      </p:pic>
      <p:sp>
        <p:nvSpPr>
          <p:cNvPr id="4" name="Заголовок 1048592"/>
          <p:cNvSpPr txBox="1">
            <a:spLocks/>
          </p:cNvSpPr>
          <p:nvPr/>
        </p:nvSpPr>
        <p:spPr>
          <a:xfrm>
            <a:off x="-202837" y="626225"/>
            <a:ext cx="4588625" cy="786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Пакеты используемые в проекте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048592"/>
          <p:cNvSpPr txBox="1">
            <a:spLocks/>
          </p:cNvSpPr>
          <p:nvPr/>
        </p:nvSpPr>
        <p:spPr>
          <a:xfrm>
            <a:off x="3449783" y="1831570"/>
            <a:ext cx="5266936" cy="786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https://github.com/balbesssss/session-performance</a:t>
            </a:r>
            <a:endParaRPr lang="ru-RU" sz="3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056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головок 1048592"/>
          <p:cNvSpPr>
            <a:spLocks noGrp="1"/>
          </p:cNvSpPr>
          <p:nvPr>
            <p:ph type="title"/>
          </p:nvPr>
        </p:nvSpPr>
        <p:spPr>
          <a:xfrm>
            <a:off x="-58189" y="2818015"/>
            <a:ext cx="9144000" cy="78621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7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567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184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3066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6274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679</Words>
  <Application>Microsoft Office PowerPoint</Application>
  <PresentationFormat>Экран (4:3)</PresentationFormat>
  <Paragraphs>131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4" baseType="lpstr">
      <vt:lpstr>宋体</vt:lpstr>
      <vt:lpstr>Arial</vt:lpstr>
      <vt:lpstr>Calibri</vt:lpstr>
      <vt:lpstr>Calibri Light</vt:lpstr>
      <vt:lpstr>Times New Roman</vt:lpstr>
      <vt:lpstr>Тема Office</vt:lpstr>
      <vt:lpstr>Отчет по УД МДК 02.01 Технология разработки ПО «Проектирование приложения для контроля сессионной успеваемости студентов»</vt:lpstr>
      <vt:lpstr>Теоритические основы</vt:lpstr>
      <vt:lpstr>Предметная область </vt:lpstr>
      <vt:lpstr>FRONTEND</vt:lpstr>
      <vt:lpstr>FIGMA</vt:lpstr>
      <vt:lpstr>HTML</vt:lpstr>
      <vt:lpstr>HTML</vt:lpstr>
      <vt:lpstr>CSS</vt:lpstr>
      <vt:lpstr>Результат</vt:lpstr>
      <vt:lpstr>BACKEND</vt:lpstr>
      <vt:lpstr>Проектирование БД</vt:lpstr>
      <vt:lpstr>Проектирование БД</vt:lpstr>
      <vt:lpstr>Проектирование БД</vt:lpstr>
      <vt:lpstr>Проектирование БД</vt:lpstr>
      <vt:lpstr>Постановка последующих задач</vt:lpstr>
      <vt:lpstr>Сценарии для студента</vt:lpstr>
      <vt:lpstr>Сценарии для студента</vt:lpstr>
      <vt:lpstr>Сценарии для студента</vt:lpstr>
      <vt:lpstr>Сценарии для студента</vt:lpstr>
      <vt:lpstr>Сценарии для преподавателя</vt:lpstr>
      <vt:lpstr>Сценарии для преподавателя</vt:lpstr>
      <vt:lpstr>Сценарии для преподавателя</vt:lpstr>
      <vt:lpstr>Сценарии для преподавателя</vt:lpstr>
      <vt:lpstr>Сценарии для преподавателя</vt:lpstr>
      <vt:lpstr>Сценарии для сотрудника учебного отдела</vt:lpstr>
      <vt:lpstr>Сценарии для сотрудника учебного отдела</vt:lpstr>
      <vt:lpstr>Сценарии для сотрудника учебного отдела</vt:lpstr>
      <vt:lpstr>Сценарии для сотрудника учебного отдела</vt:lpstr>
      <vt:lpstr>Сценарии для сотрудника учебного отдела</vt:lpstr>
      <vt:lpstr>Сценарии для сотрудника учебного отдела</vt:lpstr>
      <vt:lpstr>Сценарии для сотрудника учебного отдела</vt:lpstr>
      <vt:lpstr>Сценарии для сотрудника учебного отдела</vt:lpstr>
      <vt:lpstr>Сценарии для сотрудника учебного отдела</vt:lpstr>
      <vt:lpstr>Сценарии для сотрудника учебного отдела</vt:lpstr>
      <vt:lpstr>Сценарии для сотрудника учебного отдела</vt:lpstr>
      <vt:lpstr>Сценарии для сотрудника учебного отдела</vt:lpstr>
      <vt:lpstr>Сценарии для сотрудника учебного отдела</vt:lpstr>
      <vt:lpstr>Сценарии для сотрудника учебного отдела</vt:lpstr>
      <vt:lpstr>Модели используемые для endpoint’ов</vt:lpstr>
      <vt:lpstr>Зависимости</vt:lpstr>
      <vt:lpstr>Конфиг для хранения ключа, алгоритма и длительности токена jwt</vt:lpstr>
      <vt:lpstr>Архитектура</vt:lpstr>
      <vt:lpstr>Ссылка на репозиторий</vt:lpstr>
      <vt:lpstr>Спасибо за внимание!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ПРОГРАММА УСПЕВАЕМОСТИ СТУДЕНТОВ</dc:title>
  <dc:creator>2409BRN2CY</dc:creator>
  <cp:lastModifiedBy>Кира Йошикаге</cp:lastModifiedBy>
  <cp:revision>30</cp:revision>
  <dcterms:created xsi:type="dcterms:W3CDTF">2015-05-11T21:36:16Z</dcterms:created>
  <dcterms:modified xsi:type="dcterms:W3CDTF">2025-11-14T05:40:26Z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878752166e2147338acf334517e950e7</vt:lpwstr>
  </property>
</Properties>
</file>